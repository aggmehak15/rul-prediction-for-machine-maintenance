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905" y="495605"/>
            <a:ext cx="533095" cy="53309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97" b="-397"/>
          <a:stretch/>
        </p:blipFill>
        <p:spPr>
          <a:xfrm>
            <a:off x="3619195" y="3771900"/>
            <a:ext cx="4953305" cy="1920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47902" y="1809598"/>
            <a:ext cx="100968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using</a:t>
            </a:r>
            <a:endParaRPr lang="en-US" sz="3900" dirty="0"/>
          </a:p>
        </p:txBody>
      </p:sp>
      <p:sp>
        <p:nvSpPr>
          <p:cNvPr id="8" name="Text 3"/>
          <p:cNvSpPr txBox="1"/>
          <p:nvPr/>
        </p:nvSpPr>
        <p:spPr>
          <a:xfrm>
            <a:off x="64922" y="2459736"/>
            <a:ext cx="1206276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-52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Remaining Useful Life </a:t>
            </a:r>
            <a:pPr algn="ctr" indent="0" marL="0">
              <a:buNone/>
            </a:pPr>
            <a:r>
              <a:rPr lang="en-US" sz="4000" b="1" spc="-52" kern="0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(RUL)</a:t>
            </a:r>
            <a:pPr algn="ctr" indent="0" marL="0">
              <a:buNone/>
            </a:pPr>
            <a:r>
              <a:rPr lang="en-US" sz="4000" b="1" spc="-52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Prediction 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1752905" y="3238805"/>
            <a:ext cx="8686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Project • Business-first, safety-aware ML for industrial equipment reliability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1086307" y="4000500"/>
            <a:ext cx="10020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 </a:t>
            </a:r>
            <a:pPr algn="ctr" indent="0" marL="0">
              <a:buNone/>
            </a:pPr>
            <a:r>
              <a:rPr lang="en-US" sz="15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G7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276502" y="4401007"/>
            <a:ext cx="96396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Mehak Aggarwal • Avi Kishore Soni • Harshal Grover • Dewang Bakshy • Devesh • Gaurav Kumar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657807" y="4972507"/>
            <a:ext cx="8877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PGP in Data Science with Specialization in </a:t>
            </a:r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AI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52298" y="6324905"/>
            <a:ext cx="11087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faculty evaluation • Focus: uptime, cost reduction, and safety through actionable RUL insights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10351" y="6048756"/>
            <a:ext cx="171907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1676095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-8" r="-8" t="0" b="0"/>
          <a:stretch/>
        </p:blipFill>
        <p:spPr>
          <a:xfrm>
            <a:off x="761695" y="1952244"/>
            <a:ext cx="10668305" cy="1238098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761695" y="3362249"/>
            <a:ext cx="10668305" cy="1390802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-1" r="-1" t="0" b="0"/>
          <a:stretch/>
        </p:blipFill>
        <p:spPr>
          <a:xfrm>
            <a:off x="761695" y="4924044"/>
            <a:ext cx="10668305" cy="14859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Definition</a:t>
            </a:r>
            <a:endParaRPr lang="en-US" sz="2700" dirty="0"/>
          </a:p>
        </p:txBody>
      </p:sp>
      <p:sp>
        <p:nvSpPr>
          <p:cNvPr id="10" name="Text 3"/>
          <p:cNvSpPr txBox="1"/>
          <p:nvPr/>
        </p:nvSpPr>
        <p:spPr>
          <a:xfrm>
            <a:off x="761695" y="1067105"/>
            <a:ext cx="10782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predictive maintenance is a business-critical capability for modern industrial operations</a:t>
            </a:r>
            <a:endParaRPr lang="en-US" sz="12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14654" y="2371954"/>
            <a:ext cx="247802" cy="2478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600200" y="2171700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Unplanned failures are expensive and disruptive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1600200" y="2478938"/>
            <a:ext cx="10287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breakdowns lead to production downtime, emergency repairs, safety risks, and missed delivery commitments.</a:t>
            </a:r>
            <a:endParaRPr lang="en-US" sz="12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23798" y="3866998"/>
            <a:ext cx="228600" cy="22860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600200" y="3581705"/>
            <a:ext cx="94494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Fixed-schedule preventive maintenance wastes resources</a:t>
            </a:r>
            <a:endParaRPr lang="en-US" sz="1300" dirty="0"/>
          </a:p>
        </p:txBody>
      </p:sp>
      <p:sp>
        <p:nvSpPr>
          <p:cNvPr id="16" name="Text 7"/>
          <p:cNvSpPr txBox="1"/>
          <p:nvPr/>
        </p:nvSpPr>
        <p:spPr>
          <a:xfrm>
            <a:off x="1600200" y="3888943"/>
            <a:ext cx="94110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Replacing parts on a calendar basis often discards healthy components, increases labor cost, and adds unnecessary planned downtime.</a:t>
            </a:r>
            <a:endParaRPr lang="en-US" sz="12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23798" y="5391302"/>
            <a:ext cx="228600" cy="22860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600200" y="5143500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Need: Predict Remaining Useful Life (RUL) to maintain at the right time</a:t>
            </a:r>
            <a:endParaRPr lang="en-US" sz="1300" dirty="0"/>
          </a:p>
        </p:txBody>
      </p:sp>
      <p:sp>
        <p:nvSpPr>
          <p:cNvPr id="19" name="Text 9"/>
          <p:cNvSpPr txBox="1"/>
          <p:nvPr/>
        </p:nvSpPr>
        <p:spPr>
          <a:xfrm>
            <a:off x="1600200" y="5450738"/>
            <a:ext cx="96780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Estimate how many operational cycles a machine has left before failure, enabling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just-in-time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maintenance planning—neither too early nor too late. </a:t>
            </a:r>
            <a:endParaRPr lang="en-US" sz="1200" dirty="0"/>
          </a:p>
        </p:txBody>
      </p:sp>
      <p:sp>
        <p:nvSpPr>
          <p:cNvPr id="20" name="Text 10"/>
          <p:cNvSpPr txBox="1"/>
          <p:nvPr/>
        </p:nvSpPr>
        <p:spPr>
          <a:xfrm>
            <a:off x="1600200" y="6034126"/>
            <a:ext cx="971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higher uptime • lower maintenance waste • improved safety</a:t>
            </a:r>
            <a:endParaRPr lang="en-US" sz="1000" dirty="0"/>
          </a:p>
        </p:txBody>
      </p:sp>
      <p:sp>
        <p:nvSpPr>
          <p:cNvPr id="21" name="Text 11"/>
          <p:cNvSpPr txBox="1"/>
          <p:nvPr/>
        </p:nvSpPr>
        <p:spPr>
          <a:xfrm>
            <a:off x="761695" y="6495898"/>
            <a:ext cx="10782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builds an ML-based RUL prediction system from multivariate sensor telemetry to support data-driven maintenance decisions.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761695" y="1867205"/>
            <a:ext cx="5219395" cy="34290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" b="-3"/>
          <a:stretch/>
        </p:blipFill>
        <p:spPr>
          <a:xfrm>
            <a:off x="6210605" y="1867205"/>
            <a:ext cx="5219395" cy="34290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-14" r="-14" t="0" b="0"/>
          <a:stretch/>
        </p:blipFill>
        <p:spPr>
          <a:xfrm>
            <a:off x="761695" y="5486400"/>
            <a:ext cx="10668305" cy="1218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 &amp; Value Proposition</a:t>
            </a:r>
            <a:endParaRPr lang="en-US" sz="2700" dirty="0"/>
          </a:p>
        </p:txBody>
      </p:sp>
      <p:sp>
        <p:nvSpPr>
          <p:cNvPr id="10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sensor telemetry into actionable maintenance decisions (business-first capstone outcome)</a:t>
            </a:r>
            <a:endParaRPr lang="en-US" sz="12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33856" y="2276856"/>
            <a:ext cx="247802" cy="2478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Objective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1047902" y="2572207"/>
            <a:ext cx="48198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a machine learning model to predict </a:t>
            </a:r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Remaining Useful Life (RUL)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continuous estimate of how many operational cycles a machine has left before failure — using multivariate sensor telemetry. </a:t>
            </a:r>
            <a:endParaRPr lang="en-US" sz="1100" dirty="0"/>
          </a:p>
        </p:txBody>
      </p:sp>
      <p:sp>
        <p:nvSpPr>
          <p:cNvPr id="14" name="Text 6"/>
          <p:cNvSpPr txBox="1"/>
          <p:nvPr/>
        </p:nvSpPr>
        <p:spPr>
          <a:xfrm>
            <a:off x="1047902" y="3372307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signals (examples)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1047902" y="3627425"/>
            <a:ext cx="48198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• Vibration • Pressure • Current/Voltage • RPM • Load • Ambient conditions</a:t>
            </a:r>
            <a:endParaRPr lang="en-US" sz="900" dirty="0"/>
          </a:p>
        </p:txBody>
      </p:sp>
      <p:sp>
        <p:nvSpPr>
          <p:cNvPr id="16" name="Text 8"/>
          <p:cNvSpPr txBox="1"/>
          <p:nvPr/>
        </p:nvSpPr>
        <p:spPr>
          <a:xfrm>
            <a:off x="1047902" y="4137660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question answered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1047902" y="4392778"/>
            <a:ext cx="48198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“How long can we safely run this machine before maintenance becomes urgent?”</a:t>
            </a:r>
            <a:endParaRPr lang="en-US" sz="9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Delivered</a:t>
            </a:r>
            <a:endParaRPr lang="en-US" sz="13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24244" y="2734056"/>
            <a:ext cx="152705" cy="1527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782105" y="2628900"/>
            <a:ext cx="45912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unplanned downtime</a:t>
            </a:r>
            <a:endParaRPr lang="en-US" sz="1200" dirty="0"/>
          </a:p>
        </p:txBody>
      </p:sp>
      <p:sp>
        <p:nvSpPr>
          <p:cNvPr id="22" name="Text 12"/>
          <p:cNvSpPr txBox="1"/>
          <p:nvPr/>
        </p:nvSpPr>
        <p:spPr>
          <a:xfrm>
            <a:off x="6782105" y="2903220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degradation early and avoid emergency stoppages.</a:t>
            </a:r>
            <a:endParaRPr lang="en-US" sz="10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80" b="-180"/>
          <a:stretch/>
        </p:blipFill>
        <p:spPr>
          <a:xfrm>
            <a:off x="6505956" y="3419856"/>
            <a:ext cx="190195" cy="15270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782105" y="3314700"/>
            <a:ext cx="45912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just-in-time maintenance &amp; inventory</a:t>
            </a:r>
            <a:endParaRPr lang="en-US" sz="1200" dirty="0"/>
          </a:p>
        </p:txBody>
      </p:sp>
      <p:sp>
        <p:nvSpPr>
          <p:cNvPr id="25" name="Text 14"/>
          <p:cNvSpPr txBox="1"/>
          <p:nvPr/>
        </p:nvSpPr>
        <p:spPr>
          <a:xfrm>
            <a:off x="6782105" y="3589020"/>
            <a:ext cx="51553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work in planned windows; order parts only when needed.</a:t>
            </a:r>
            <a:endParaRPr lang="en-US" sz="10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24244" y="4105656"/>
            <a:ext cx="152705" cy="15270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782105" y="4000500"/>
            <a:ext cx="45912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asset life &amp; improve safety</a:t>
            </a:r>
            <a:endParaRPr lang="en-US" sz="1200" dirty="0"/>
          </a:p>
        </p:txBody>
      </p:sp>
      <p:sp>
        <p:nvSpPr>
          <p:cNvPr id="28" name="Text 16"/>
          <p:cNvSpPr txBox="1"/>
          <p:nvPr/>
        </p:nvSpPr>
        <p:spPr>
          <a:xfrm>
            <a:off x="6782105" y="4274820"/>
            <a:ext cx="45537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running equipment into catastrophic failure and reduce risk exposure.</a:t>
            </a:r>
            <a:endParaRPr lang="en-US" sz="10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5" b="-45"/>
          <a:stretch/>
        </p:blipFill>
        <p:spPr>
          <a:xfrm>
            <a:off x="1110082" y="5924398"/>
            <a:ext cx="256946" cy="22860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1600200" y="5658307"/>
            <a:ext cx="97539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Make predictions actionable with </a:t>
            </a:r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Bands</a:t>
            </a:r>
            <a:endParaRPr lang="en-US" sz="1300" dirty="0"/>
          </a:p>
        </p:txBody>
      </p:sp>
      <p:sp>
        <p:nvSpPr>
          <p:cNvPr id="31" name="Text 18"/>
          <p:cNvSpPr txBox="1"/>
          <p:nvPr/>
        </p:nvSpPr>
        <p:spPr>
          <a:xfrm>
            <a:off x="1600200" y="5946343"/>
            <a:ext cx="103254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Convert raw RUL into simple decisions for the shop floor: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(act now) •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(schedule next window) •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(monitor) •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</a:t>
            </a:r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(healthy) </a:t>
            </a:r>
            <a:endParaRPr lang="en-US" sz="1000" dirty="0"/>
          </a:p>
        </p:txBody>
      </p:sp>
      <p:sp>
        <p:nvSpPr>
          <p:cNvPr id="32" name="Text 19"/>
          <p:cNvSpPr txBox="1"/>
          <p:nvPr/>
        </p:nvSpPr>
        <p:spPr>
          <a:xfrm>
            <a:off x="1600200" y="6229807"/>
            <a:ext cx="9753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faster triage • fewer surprises • maintenance aligned to business priorities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761695" y="1867205"/>
            <a:ext cx="5219395" cy="34290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" b="-3"/>
          <a:stretch/>
        </p:blipFill>
        <p:spPr>
          <a:xfrm>
            <a:off x="6210605" y="1867205"/>
            <a:ext cx="5219395" cy="34290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-5" r="-5" t="0" b="0"/>
          <a:stretch/>
        </p:blipFill>
        <p:spPr>
          <a:xfrm>
            <a:off x="1047902" y="2572207"/>
            <a:ext cx="4743907" cy="57150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rcRect l="-14" r="-14" t="0" b="0"/>
          <a:stretch/>
        </p:blipFill>
        <p:spPr>
          <a:xfrm>
            <a:off x="761695" y="5486400"/>
            <a:ext cx="10668305" cy="1218895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11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used, what we built, and what made this a real predictive maintenance problem</a:t>
            </a:r>
            <a:endParaRPr lang="en-US" sz="120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-606" r="-606" t="0" b="0"/>
          <a:stretch/>
        </p:blipFill>
        <p:spPr>
          <a:xfrm>
            <a:off x="1147572" y="2276856"/>
            <a:ext cx="219456" cy="247802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at a Glance</a:t>
            </a:r>
            <a:endParaRPr lang="en-US" sz="1300" dirty="0"/>
          </a:p>
        </p:txBody>
      </p:sp>
      <p:sp>
        <p:nvSpPr>
          <p:cNvPr id="14" name="Text 5"/>
          <p:cNvSpPr txBox="1"/>
          <p:nvPr/>
        </p:nvSpPr>
        <p:spPr>
          <a:xfrm>
            <a:off x="1238098" y="2695651"/>
            <a:ext cx="4910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120,000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 • </a:t>
            </a:r>
            <a:pPr algn="l" indent="0" marL="0">
              <a:buNone/>
            </a:pPr>
            <a:r>
              <a:rPr lang="en-US" sz="13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raw features • </a:t>
            </a:r>
            <a:pPr algn="l" indent="0" marL="0">
              <a:buNone/>
            </a:pPr>
            <a:r>
              <a:rPr lang="en-US" sz="13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engineered features </a:t>
            </a:r>
            <a:endParaRPr lang="en-US" sz="1000" dirty="0"/>
          </a:p>
        </p:txBody>
      </p:sp>
      <p:sp>
        <p:nvSpPr>
          <p:cNvPr id="15" name="Text 6"/>
          <p:cNvSpPr txBox="1"/>
          <p:nvPr/>
        </p:nvSpPr>
        <p:spPr>
          <a:xfrm>
            <a:off x="1047902" y="3276295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inputs included</a:t>
            </a:r>
            <a:endParaRPr lang="en-US" sz="900" dirty="0"/>
          </a:p>
        </p:txBody>
      </p:sp>
      <p:sp>
        <p:nvSpPr>
          <p:cNvPr id="16" name="Text 7"/>
          <p:cNvSpPr txBox="1"/>
          <p:nvPr/>
        </p:nvSpPr>
        <p:spPr>
          <a:xfrm>
            <a:off x="1047902" y="3531413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settings + multivariate sensors:</a:t>
            </a:r>
            <a:endParaRPr lang="en-US" sz="1100" dirty="0"/>
          </a:p>
        </p:txBody>
      </p:sp>
      <p:sp>
        <p:nvSpPr>
          <p:cNvPr id="17" name="Text 8"/>
          <p:cNvSpPr txBox="1"/>
          <p:nvPr/>
        </p:nvSpPr>
        <p:spPr>
          <a:xfrm>
            <a:off x="1047902" y="3817620"/>
            <a:ext cx="48198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• Vibration (RMS/Peak) • Pressure • Current/Voltage • RPM • Torque • Load • Humidity • Ambient temp • Shift / mode</a:t>
            </a:r>
            <a:endParaRPr lang="en-US" sz="900" dirty="0"/>
          </a:p>
        </p:txBody>
      </p:sp>
      <p:sp>
        <p:nvSpPr>
          <p:cNvPr id="18" name="Text 9"/>
          <p:cNvSpPr txBox="1"/>
          <p:nvPr/>
        </p:nvSpPr>
        <p:spPr>
          <a:xfrm>
            <a:off x="1047902" y="4321454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1047902" y="4576572"/>
            <a:ext cx="4819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Remaining Useful Life (RUL) 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continuous prediction of cycles remaining before failure</a:t>
            </a:r>
            <a:endParaRPr lang="en-US" sz="11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Data Challenges</a:t>
            </a:r>
            <a:endParaRPr lang="en-US" sz="13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80" b="-180"/>
          <a:stretch/>
        </p:blipFill>
        <p:spPr>
          <a:xfrm>
            <a:off x="6505956" y="2734056"/>
            <a:ext cx="190195" cy="15270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6782105" y="2628900"/>
            <a:ext cx="44769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Noisy, non-linear sensor behavior</a:t>
            </a:r>
            <a:endParaRPr lang="en-US" sz="1200" dirty="0"/>
          </a:p>
        </p:txBody>
      </p:sp>
      <p:sp>
        <p:nvSpPr>
          <p:cNvPr id="24" name="Text 13"/>
          <p:cNvSpPr txBox="1"/>
          <p:nvPr/>
        </p:nvSpPr>
        <p:spPr>
          <a:xfrm>
            <a:off x="6782105" y="2903220"/>
            <a:ext cx="44394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Machines degrade slowly, then drop sharply near failure (signal is not linear).</a:t>
            </a:r>
            <a:endParaRPr lang="en-US" sz="10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rcRect l="-33" r="-33" t="0" b="0"/>
          <a:stretch/>
        </p:blipFill>
        <p:spPr>
          <a:xfrm>
            <a:off x="6515100" y="3476549"/>
            <a:ext cx="171907" cy="15270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6782105" y="3372307"/>
            <a:ext cx="44769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in key sensors</a:t>
            </a:r>
            <a:endParaRPr lang="en-US" sz="1200" dirty="0"/>
          </a:p>
        </p:txBody>
      </p:sp>
      <p:sp>
        <p:nvSpPr>
          <p:cNvPr id="27" name="Text 15"/>
          <p:cNvSpPr txBox="1"/>
          <p:nvPr/>
        </p:nvSpPr>
        <p:spPr>
          <a:xfrm>
            <a:off x="6782105" y="3645713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E.g., </a:t>
            </a:r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coolant_flow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gaps — typical in real telemetry pipelines.</a:t>
            </a:r>
            <a:endParaRPr lang="en-US" sz="10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524244" y="4219956"/>
            <a:ext cx="152705" cy="152705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782105" y="4114800"/>
            <a:ext cx="44769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operating regimes + leakage risk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6782105" y="4389120"/>
            <a:ext cx="44394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machine types/shifts create clusters; random time-series splits can leak “future” behavior into training.</a:t>
            </a:r>
            <a:endParaRPr lang="en-US" sz="1000" dirty="0"/>
          </a:p>
        </p:txBody>
      </p:sp>
      <p:sp>
        <p:nvSpPr>
          <p:cNvPr id="31" name="Text 18"/>
          <p:cNvSpPr txBox="1"/>
          <p:nvPr/>
        </p:nvSpPr>
        <p:spPr>
          <a:xfrm>
            <a:off x="1600200" y="5658307"/>
            <a:ext cx="97539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Leakage-safe validation: </a:t>
            </a:r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machine-based train/test split</a:t>
            </a:r>
            <a:endParaRPr lang="en-US" sz="1300" dirty="0"/>
          </a:p>
        </p:txBody>
      </p:sp>
      <p:sp>
        <p:nvSpPr>
          <p:cNvPr id="32" name="Text 19"/>
          <p:cNvSpPr txBox="1"/>
          <p:nvPr/>
        </p:nvSpPr>
        <p:spPr>
          <a:xfrm>
            <a:off x="1600200" y="5946343"/>
            <a:ext cx="10195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split by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machine_id</a:t>
            </a:r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(entire machines held out), so performance reflects how the model works on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unseen assets</a:t>
            </a:r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production. </a:t>
            </a:r>
            <a:endParaRPr lang="en-US" sz="1000" dirty="0"/>
          </a:p>
        </p:txBody>
      </p:sp>
      <p:sp>
        <p:nvSpPr>
          <p:cNvPr id="33" name="Text 20"/>
          <p:cNvSpPr txBox="1"/>
          <p:nvPr/>
        </p:nvSpPr>
        <p:spPr>
          <a:xfrm>
            <a:off x="1600200" y="6229807"/>
            <a:ext cx="9753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trustworthy generalization • avoids “memorizing” machines • aligns with real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6" b="-6"/>
          <a:stretch/>
        </p:blipFill>
        <p:spPr>
          <a:xfrm>
            <a:off x="761695" y="1867205"/>
            <a:ext cx="5219395" cy="483900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6" b="-6"/>
          <a:stretch/>
        </p:blipFill>
        <p:spPr>
          <a:xfrm>
            <a:off x="6210605" y="1867205"/>
            <a:ext cx="5219395" cy="4839005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EDA Insights</a:t>
            </a:r>
            <a:endParaRPr lang="en-US" sz="2700" dirty="0"/>
          </a:p>
        </p:txBody>
      </p:sp>
      <p:sp>
        <p:nvSpPr>
          <p:cNvPr id="9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data reveals about degradation patterns (signals that matter for business decisions)</a:t>
            </a:r>
            <a:endParaRPr lang="en-US" sz="12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43000" y="2286000"/>
            <a:ext cx="228600" cy="2286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shaped our approach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1047902" y="2638044"/>
            <a:ext cx="95098" cy="95098"/>
          </a:xfrm>
          <a:prstGeom prst="ellipse">
            <a:avLst/>
          </a:prstGeom>
          <a:solidFill>
            <a:srgbClr val="0EA5A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1238098" y="2572207"/>
            <a:ext cx="48271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 distribution is left-skewed (capped at “healthy” max)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1238098" y="2800807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observations are in mid-life; failures appear as a sharp end-of-life region → focus accuracy near failure.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1047902" y="3345790"/>
            <a:ext cx="95098" cy="9509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1238098" y="3279038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Temperatures rise as RUL approaches 0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238098" y="3507638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Thermal stress is a strong late-stage signal and helps confirm imminent failure risk.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1047902" y="4052621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1238098" y="3985870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 variance spikes near failure (“instability”)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238098" y="4214470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standard deviation becomes highly predictive → instability is often the earliest reliable warning.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1047902" y="4760366"/>
            <a:ext cx="95098" cy="9509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238098" y="4693615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trends decline toward failure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238098" y="4922215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Step-down behavior indicates pump/seal degradation patterns valuable for maintenance planning.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047902" y="5467198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238098" y="5400446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flags correlate with lower average RUL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238098" y="5629046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= useful early-warning feature to prioritize inspection and reduce surprises.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047902" y="6108192"/>
            <a:ext cx="48198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degradation is non-linear; trend + instability features are more informative than raw sensor snapshots.</a:t>
            </a:r>
            <a:endParaRPr lang="en-US" sz="9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Degradation patterns (illustrative)</a:t>
            </a:r>
            <a:endParaRPr lang="en-US" sz="13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" b="-2"/>
          <a:stretch/>
        </p:blipFill>
        <p:spPr>
          <a:xfrm>
            <a:off x="6495898" y="2572207"/>
            <a:ext cx="4743907" cy="314370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495898" y="5810098"/>
            <a:ext cx="48198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visual summarizes three common signals: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drift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 instability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decline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failure approaches. 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6495898" y="6238951"/>
            <a:ext cx="48198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chart is illustrative to communicate patterns observed during EDA (not exact raw values).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952805" y="3504895"/>
            <a:ext cx="10287000" cy="3840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-5" r="-5" t="0" b="0"/>
          <a:stretch/>
        </p:blipFill>
        <p:spPr>
          <a:xfrm>
            <a:off x="761695" y="2018995"/>
            <a:ext cx="1981505" cy="2762402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33602" y="2190902"/>
            <a:ext cx="495605" cy="495605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rcRect l="-5" r="-5" t="0" b="0"/>
          <a:stretch/>
        </p:blipFill>
        <p:spPr>
          <a:xfrm>
            <a:off x="2915107" y="2018995"/>
            <a:ext cx="1981505" cy="2762402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086100" y="2190902"/>
            <a:ext cx="495605" cy="495605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rcRect l="-5" r="-5" t="0" b="0"/>
          <a:stretch/>
        </p:blipFill>
        <p:spPr>
          <a:xfrm>
            <a:off x="5067605" y="2018995"/>
            <a:ext cx="1981505" cy="2762402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238598" y="2190902"/>
            <a:ext cx="495605" cy="495605"/>
          </a:xfrm>
          <a:prstGeom prst="rect">
            <a:avLst/>
          </a:prstGeom>
        </p:spPr>
      </p:pic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0"/>
          <a:srcRect l="-5" r="-5" t="0" b="0"/>
          <a:stretch/>
        </p:blipFill>
        <p:spPr>
          <a:xfrm>
            <a:off x="7220102" y="2018995"/>
            <a:ext cx="1981505" cy="2762402"/>
          </a:xfrm>
          <a:prstGeom prst="rect">
            <a:avLst/>
          </a:prstGeom>
        </p:spPr>
      </p:pic>
      <p:pic>
        <p:nvPicPr>
          <p:cNvPr id="1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391095" y="2190902"/>
            <a:ext cx="495605" cy="495605"/>
          </a:xfrm>
          <a:prstGeom prst="rect">
            <a:avLst/>
          </a:prstGeom>
        </p:spPr>
      </p:pic>
      <p:pic>
        <p:nvPicPr>
          <p:cNvPr id="1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3" b="-3"/>
          <a:stretch/>
        </p:blipFill>
        <p:spPr>
          <a:xfrm>
            <a:off x="9372600" y="2018995"/>
            <a:ext cx="2057400" cy="2762402"/>
          </a:xfrm>
          <a:prstGeom prst="rect">
            <a:avLst/>
          </a:prstGeom>
        </p:spPr>
      </p:pic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544507" y="2190902"/>
            <a:ext cx="495605" cy="495605"/>
          </a:xfrm>
          <a:prstGeom prst="rect">
            <a:avLst/>
          </a:prstGeom>
        </p:spPr>
      </p:pic>
      <p:pic>
        <p:nvPicPr>
          <p:cNvPr id="17" name="Image 13" descr="preencoded.png">    </p:cNvPr>
          <p:cNvPicPr>
            <a:picLocks noChangeAspect="1"/>
          </p:cNvPicPr>
          <p:nvPr/>
        </p:nvPicPr>
        <p:blipFill>
          <a:blip r:embed="rId14"/>
          <a:srcRect l="-13" r="-13" t="0" b="0"/>
          <a:stretch/>
        </p:blipFill>
        <p:spPr>
          <a:xfrm>
            <a:off x="761695" y="5067605"/>
            <a:ext cx="10668305" cy="1333195"/>
          </a:xfrm>
          <a:prstGeom prst="rect">
            <a:avLst/>
          </a:prstGeom>
        </p:spPr>
      </p:pic>
      <p:sp>
        <p:nvSpPr>
          <p:cNvPr id="18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Approach (High-Level)</a:t>
            </a:r>
            <a:endParaRPr lang="en-US" sz="2700" dirty="0"/>
          </a:p>
        </p:txBody>
      </p:sp>
      <p:sp>
        <p:nvSpPr>
          <p:cNvPr id="19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leakage-safe workflow that turns telemetry into </a:t>
            </a:r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maintenance decisions </a:t>
            </a:r>
            <a:endParaRPr lang="en-US" sz="1200" dirty="0"/>
          </a:p>
        </p:txBody>
      </p:sp>
      <p:pic>
        <p:nvPicPr>
          <p:cNvPr id="2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76249" y="2333549"/>
            <a:ext cx="209398" cy="209398"/>
          </a:xfrm>
          <a:prstGeom prst="rect">
            <a:avLst/>
          </a:prstGeom>
        </p:spPr>
      </p:pic>
      <p:sp>
        <p:nvSpPr>
          <p:cNvPr id="21" name="Text 4"/>
          <p:cNvSpPr txBox="1"/>
          <p:nvPr/>
        </p:nvSpPr>
        <p:spPr>
          <a:xfrm>
            <a:off x="933602" y="2781605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 — Split</a:t>
            </a:r>
            <a:endParaRPr lang="en-US" sz="1000" dirty="0"/>
          </a:p>
        </p:txBody>
      </p:sp>
      <p:sp>
        <p:nvSpPr>
          <p:cNvPr id="22" name="Text 5"/>
          <p:cNvSpPr txBox="1"/>
          <p:nvPr/>
        </p:nvSpPr>
        <p:spPr>
          <a:xfrm>
            <a:off x="933602" y="3029407"/>
            <a:ext cx="1714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machine_id split</a:t>
            </a:r>
            <a:endParaRPr lang="en-US" sz="900" dirty="0"/>
          </a:p>
        </p:txBody>
      </p:sp>
      <p:sp>
        <p:nvSpPr>
          <p:cNvPr id="23" name="Text 6"/>
          <p:cNvSpPr txBox="1"/>
          <p:nvPr/>
        </p:nvSpPr>
        <p:spPr>
          <a:xfrm>
            <a:off x="933602" y="3278124"/>
            <a:ext cx="170444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data leakage by ensuring test machines are truly unseen.</a:t>
            </a:r>
            <a:endParaRPr lang="en-US" sz="900" dirty="0"/>
          </a:p>
        </p:txBody>
      </p:sp>
      <p:sp>
        <p:nvSpPr>
          <p:cNvPr id="24" name="Text 7"/>
          <p:cNvSpPr txBox="1"/>
          <p:nvPr/>
        </p:nvSpPr>
        <p:spPr>
          <a:xfrm>
            <a:off x="933602" y="3926434"/>
            <a:ext cx="17044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realistic generalization</a:t>
            </a:r>
            <a:endParaRPr lang="en-US" sz="900" dirty="0"/>
          </a:p>
        </p:txBody>
      </p:sp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rcRect l="-461" r="-461" t="0" b="0"/>
          <a:stretch/>
        </p:blipFill>
        <p:spPr>
          <a:xfrm>
            <a:off x="3215030" y="2333549"/>
            <a:ext cx="237744" cy="209398"/>
          </a:xfrm>
          <a:prstGeom prst="rect">
            <a:avLst/>
          </a:prstGeom>
        </p:spPr>
      </p:pic>
      <p:sp>
        <p:nvSpPr>
          <p:cNvPr id="26" name="Text 8"/>
          <p:cNvSpPr txBox="1"/>
          <p:nvPr/>
        </p:nvSpPr>
        <p:spPr>
          <a:xfrm>
            <a:off x="3086100" y="2781605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 — Domain</a:t>
            </a:r>
            <a:endParaRPr lang="en-US" sz="1000" dirty="0"/>
          </a:p>
        </p:txBody>
      </p:sp>
      <p:sp>
        <p:nvSpPr>
          <p:cNvPr id="27" name="Text 9"/>
          <p:cNvSpPr txBox="1"/>
          <p:nvPr/>
        </p:nvSpPr>
        <p:spPr>
          <a:xfrm>
            <a:off x="3086100" y="3029407"/>
            <a:ext cx="1714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features</a:t>
            </a:r>
            <a:endParaRPr lang="en-US" sz="900" dirty="0"/>
          </a:p>
        </p:txBody>
      </p:sp>
      <p:sp>
        <p:nvSpPr>
          <p:cNvPr id="28" name="Text 10"/>
          <p:cNvSpPr txBox="1"/>
          <p:nvPr/>
        </p:nvSpPr>
        <p:spPr>
          <a:xfrm>
            <a:off x="3086100" y="3278124"/>
            <a:ext cx="170444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Thermal • Mechanical • Electrical • Environment • Age-normalized ratios.</a:t>
            </a:r>
            <a:endParaRPr lang="en-US" sz="900" dirty="0"/>
          </a:p>
        </p:txBody>
      </p:sp>
      <p:sp>
        <p:nvSpPr>
          <p:cNvPr id="29" name="Text 11"/>
          <p:cNvSpPr txBox="1"/>
          <p:nvPr/>
        </p:nvSpPr>
        <p:spPr>
          <a:xfrm>
            <a:off x="3086100" y="3926434"/>
            <a:ext cx="19504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wear &amp; tear signals</a:t>
            </a:r>
            <a:endParaRPr lang="en-US" sz="900" dirty="0"/>
          </a:p>
        </p:txBody>
      </p:sp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5367528" y="2343607"/>
            <a:ext cx="237744" cy="190195"/>
          </a:xfrm>
          <a:prstGeom prst="rect">
            <a:avLst/>
          </a:prstGeom>
        </p:spPr>
      </p:pic>
      <p:sp>
        <p:nvSpPr>
          <p:cNvPr id="31" name="Text 12"/>
          <p:cNvSpPr txBox="1"/>
          <p:nvPr/>
        </p:nvSpPr>
        <p:spPr>
          <a:xfrm>
            <a:off x="5238598" y="2781605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 — Time</a:t>
            </a:r>
            <a:endParaRPr lang="en-US" sz="1000" dirty="0"/>
          </a:p>
        </p:txBody>
      </p:sp>
      <p:sp>
        <p:nvSpPr>
          <p:cNvPr id="32" name="Text 13"/>
          <p:cNvSpPr txBox="1"/>
          <p:nvPr/>
        </p:nvSpPr>
        <p:spPr>
          <a:xfrm>
            <a:off x="5238598" y="3029407"/>
            <a:ext cx="1754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&amp; lag features</a:t>
            </a:r>
            <a:endParaRPr lang="en-US" sz="900" dirty="0"/>
          </a:p>
        </p:txBody>
      </p:sp>
      <p:sp>
        <p:nvSpPr>
          <p:cNvPr id="33" name="Text 14"/>
          <p:cNvSpPr txBox="1"/>
          <p:nvPr/>
        </p:nvSpPr>
        <p:spPr>
          <a:xfrm>
            <a:off x="5238598" y="3278124"/>
            <a:ext cx="170444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Post-split 5-cycle rolling mean/std + lag-1 to capture trend + instability.</a:t>
            </a:r>
            <a:endParaRPr lang="en-US" sz="900" dirty="0"/>
          </a:p>
        </p:txBody>
      </p:sp>
      <p:sp>
        <p:nvSpPr>
          <p:cNvPr id="34" name="Text 15"/>
          <p:cNvSpPr txBox="1"/>
          <p:nvPr/>
        </p:nvSpPr>
        <p:spPr>
          <a:xfrm>
            <a:off x="5238598" y="3926434"/>
            <a:ext cx="17044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degradation “memory”</a:t>
            </a:r>
            <a:endParaRPr lang="en-US" sz="900" dirty="0"/>
          </a:p>
        </p:txBody>
      </p:sp>
      <p:pic>
        <p:nvPicPr>
          <p:cNvPr id="35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7539228" y="2338121"/>
            <a:ext cx="200254" cy="200254"/>
          </a:xfrm>
          <a:prstGeom prst="rect">
            <a:avLst/>
          </a:prstGeom>
        </p:spPr>
      </p:pic>
      <p:sp>
        <p:nvSpPr>
          <p:cNvPr id="36" name="Text 16"/>
          <p:cNvSpPr txBox="1"/>
          <p:nvPr/>
        </p:nvSpPr>
        <p:spPr>
          <a:xfrm>
            <a:off x="7391095" y="2781605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 — Model</a:t>
            </a:r>
            <a:endParaRPr lang="en-US" sz="1000" dirty="0"/>
          </a:p>
        </p:txBody>
      </p:sp>
      <p:sp>
        <p:nvSpPr>
          <p:cNvPr id="37" name="Text 17"/>
          <p:cNvSpPr txBox="1"/>
          <p:nvPr/>
        </p:nvSpPr>
        <p:spPr>
          <a:xfrm>
            <a:off x="7391095" y="3029407"/>
            <a:ext cx="1714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→ RF → XGBoost</a:t>
            </a:r>
            <a:endParaRPr lang="en-US" sz="900" dirty="0"/>
          </a:p>
        </p:txBody>
      </p:sp>
      <p:sp>
        <p:nvSpPr>
          <p:cNvPr id="38" name="Text 18"/>
          <p:cNvSpPr txBox="1"/>
          <p:nvPr/>
        </p:nvSpPr>
        <p:spPr>
          <a:xfrm>
            <a:off x="7391095" y="3278124"/>
            <a:ext cx="170444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from baseline to non-linear models; XGBoost selected for strongest generalization.</a:t>
            </a:r>
            <a:endParaRPr lang="en-US" sz="900" dirty="0"/>
          </a:p>
        </p:txBody>
      </p:sp>
      <p:sp>
        <p:nvSpPr>
          <p:cNvPr id="39" name="Text 19"/>
          <p:cNvSpPr txBox="1"/>
          <p:nvPr/>
        </p:nvSpPr>
        <p:spPr>
          <a:xfrm>
            <a:off x="7391095" y="4111142"/>
            <a:ext cx="17044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best fit to non-linearity</a:t>
            </a:r>
            <a:endParaRPr lang="en-US" sz="900" dirty="0"/>
          </a:p>
        </p:txBody>
      </p:sp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507" b="-507"/>
          <a:stretch/>
        </p:blipFill>
        <p:spPr>
          <a:xfrm>
            <a:off x="9667951" y="2338121"/>
            <a:ext cx="247802" cy="200254"/>
          </a:xfrm>
          <a:prstGeom prst="rect">
            <a:avLst/>
          </a:prstGeom>
        </p:spPr>
      </p:pic>
      <p:sp>
        <p:nvSpPr>
          <p:cNvPr id="41" name="Text 20"/>
          <p:cNvSpPr txBox="1"/>
          <p:nvPr/>
        </p:nvSpPr>
        <p:spPr>
          <a:xfrm>
            <a:off x="9544507" y="2781605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 — Action</a:t>
            </a:r>
            <a:endParaRPr lang="en-US" sz="1000" dirty="0"/>
          </a:p>
        </p:txBody>
      </p:sp>
      <p:sp>
        <p:nvSpPr>
          <p:cNvPr id="42" name="Text 21"/>
          <p:cNvSpPr txBox="1"/>
          <p:nvPr/>
        </p:nvSpPr>
        <p:spPr>
          <a:xfrm>
            <a:off x="9544507" y="3029407"/>
            <a:ext cx="19879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layer + Risk bands</a:t>
            </a:r>
            <a:endParaRPr lang="en-US" sz="900" dirty="0"/>
          </a:p>
        </p:txBody>
      </p:sp>
      <p:sp>
        <p:nvSpPr>
          <p:cNvPr id="43" name="Text 22"/>
          <p:cNvSpPr txBox="1"/>
          <p:nvPr/>
        </p:nvSpPr>
        <p:spPr>
          <a:xfrm>
            <a:off x="9544507" y="3278124"/>
            <a:ext cx="178308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Clip predictions to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0–300</a:t>
            </a:r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cycles; translate to CRITICAL / HIGH / MEDIUM / SAFE. </a:t>
            </a:r>
            <a:endParaRPr lang="en-US" sz="900" dirty="0"/>
          </a:p>
        </p:txBody>
      </p:sp>
      <p:sp>
        <p:nvSpPr>
          <p:cNvPr id="44" name="Text 23"/>
          <p:cNvSpPr txBox="1"/>
          <p:nvPr/>
        </p:nvSpPr>
        <p:spPr>
          <a:xfrm>
            <a:off x="9544507" y="3926434"/>
            <a:ext cx="1783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operational decisions</a:t>
            </a:r>
            <a:endParaRPr lang="en-US" sz="900" dirty="0"/>
          </a:p>
        </p:txBody>
      </p:sp>
      <p:pic>
        <p:nvPicPr>
          <p:cNvPr id="45" name="Image 19" descr="preencoded.png">    </p:cNvPr>
          <p:cNvPicPr>
            <a:picLocks noChangeAspect="1"/>
          </p:cNvPicPr>
          <p:nvPr/>
        </p:nvPicPr>
        <p:blipFill>
          <a:blip r:embed="rId20"/>
          <a:srcRect l="-760" r="-760" t="0" b="0"/>
          <a:stretch/>
        </p:blipFill>
        <p:spPr>
          <a:xfrm>
            <a:off x="2743200" y="3276295"/>
            <a:ext cx="152705" cy="171907"/>
          </a:xfrm>
          <a:prstGeom prst="rect">
            <a:avLst/>
          </a:prstGeom>
        </p:spPr>
      </p:pic>
      <p:pic>
        <p:nvPicPr>
          <p:cNvPr id="46" name="Image 20" descr="preencoded.png">    </p:cNvPr>
          <p:cNvPicPr>
            <a:picLocks noChangeAspect="1"/>
          </p:cNvPicPr>
          <p:nvPr/>
        </p:nvPicPr>
        <p:blipFill>
          <a:blip r:embed="rId21"/>
          <a:srcRect l="-760" r="-760" t="0" b="0"/>
          <a:stretch/>
        </p:blipFill>
        <p:spPr>
          <a:xfrm>
            <a:off x="4895698" y="3276295"/>
            <a:ext cx="152705" cy="171907"/>
          </a:xfrm>
          <a:prstGeom prst="rect">
            <a:avLst/>
          </a:prstGeom>
        </p:spPr>
      </p:pic>
      <p:pic>
        <p:nvPicPr>
          <p:cNvPr id="47" name="Image 21" descr="preencoded.png">    </p:cNvPr>
          <p:cNvPicPr>
            <a:picLocks noChangeAspect="1"/>
          </p:cNvPicPr>
          <p:nvPr/>
        </p:nvPicPr>
        <p:blipFill>
          <a:blip r:embed="rId22"/>
          <a:srcRect l="-760" r="-760" t="0" b="0"/>
          <a:stretch/>
        </p:blipFill>
        <p:spPr>
          <a:xfrm>
            <a:off x="7048195" y="3276295"/>
            <a:ext cx="152705" cy="171907"/>
          </a:xfrm>
          <a:prstGeom prst="rect">
            <a:avLst/>
          </a:prstGeom>
        </p:spPr>
      </p:pic>
      <p:pic>
        <p:nvPicPr>
          <p:cNvPr id="48" name="Image 22" descr="preencoded.png">    </p:cNvPr>
          <p:cNvPicPr>
            <a:picLocks noChangeAspect="1"/>
          </p:cNvPicPr>
          <p:nvPr/>
        </p:nvPicPr>
        <p:blipFill>
          <a:blip r:embed="rId23"/>
          <a:srcRect l="-760" r="-760" t="0" b="0"/>
          <a:stretch/>
        </p:blipFill>
        <p:spPr>
          <a:xfrm>
            <a:off x="9201607" y="3276295"/>
            <a:ext cx="152705" cy="171907"/>
          </a:xfrm>
          <a:prstGeom prst="rect">
            <a:avLst/>
          </a:prstGeom>
        </p:spPr>
      </p:pic>
      <p:pic>
        <p:nvPicPr>
          <p:cNvPr id="49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1123798" y="5505602"/>
            <a:ext cx="228600" cy="228600"/>
          </a:xfrm>
          <a:prstGeom prst="rect">
            <a:avLst/>
          </a:prstGeom>
        </p:spPr>
      </p:pic>
      <p:sp>
        <p:nvSpPr>
          <p:cNvPr id="50" name="Text 24"/>
          <p:cNvSpPr txBox="1"/>
          <p:nvPr/>
        </p:nvSpPr>
        <p:spPr>
          <a:xfrm>
            <a:off x="1600200" y="5296205"/>
            <a:ext cx="9639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makes this approach reliable for a real factory setting?</a:t>
            </a:r>
            <a:endParaRPr lang="en-US" sz="1300" dirty="0"/>
          </a:p>
        </p:txBody>
      </p:sp>
      <p:sp>
        <p:nvSpPr>
          <p:cNvPr id="51" name="Text 25"/>
          <p:cNvSpPr txBox="1"/>
          <p:nvPr/>
        </p:nvSpPr>
        <p:spPr>
          <a:xfrm>
            <a:off x="1600200" y="5603443"/>
            <a:ext cx="10211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workflow explicitly 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leakage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learns 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degradation trends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converts predictions into 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risk-based actions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aligned to uptime and safety. </a:t>
            </a:r>
            <a:endParaRPr lang="en-US" sz="1000" dirty="0"/>
          </a:p>
        </p:txBody>
      </p:sp>
      <p:sp>
        <p:nvSpPr>
          <p:cNvPr id="52" name="Text 26"/>
          <p:cNvSpPr txBox="1"/>
          <p:nvPr/>
        </p:nvSpPr>
        <p:spPr>
          <a:xfrm>
            <a:off x="1600200" y="5893308"/>
            <a:ext cx="9639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lens: prioritize catching imminent failures over “perfect” long-horizon estimates.</a:t>
            </a:r>
            <a:endParaRPr lang="en-US" sz="900" dirty="0"/>
          </a:p>
        </p:txBody>
      </p:sp>
      <p:sp>
        <p:nvSpPr>
          <p:cNvPr id="53" name="Text 27"/>
          <p:cNvSpPr txBox="1"/>
          <p:nvPr/>
        </p:nvSpPr>
        <p:spPr>
          <a:xfrm>
            <a:off x="761695" y="6572707"/>
            <a:ext cx="10782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Temporal features are engineered after the machine-based split to preserve causality and ensure evaluation matches deployment reality.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1676095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-1" r="-1" t="0" b="0"/>
          <a:stretch/>
        </p:blipFill>
        <p:spPr>
          <a:xfrm>
            <a:off x="761695" y="1952244"/>
            <a:ext cx="10668305" cy="11430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9" b="-9"/>
          <a:stretch/>
        </p:blipFill>
        <p:spPr>
          <a:xfrm>
            <a:off x="761695" y="3247949"/>
            <a:ext cx="10668305" cy="152430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5" b="-15"/>
          <a:stretch/>
        </p:blipFill>
        <p:spPr>
          <a:xfrm>
            <a:off x="761695" y="4943246"/>
            <a:ext cx="10668305" cy="1429207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 Highlights</a:t>
            </a:r>
            <a:endParaRPr lang="en-US" sz="2700" dirty="0"/>
          </a:p>
        </p:txBody>
      </p:sp>
      <p:sp>
        <p:nvSpPr>
          <p:cNvPr id="10" name="Text 3"/>
          <p:cNvSpPr txBox="1"/>
          <p:nvPr/>
        </p:nvSpPr>
        <p:spPr>
          <a:xfrm>
            <a:off x="761695" y="1067105"/>
            <a:ext cx="10782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raw telemetry into degradation signals (domain stress + temporal instability)</a:t>
            </a:r>
            <a:endParaRPr lang="en-US" sz="12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14654" y="2352751"/>
            <a:ext cx="247802" cy="2478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600200" y="2115007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Thermal stress (overheating signal)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1600200" y="2422246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temp_delta_1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temperature − ambient (corr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−0.57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• </a:t>
            </a:r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temp_delta_2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temperature_2 − ambient (corr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−0.58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1600200" y="2734970"/>
            <a:ext cx="9715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deltas → poorer heat dissipation → lower RUL</a:t>
            </a:r>
            <a:endParaRPr lang="en-US" sz="10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rcRect l="-80" r="-80" t="0" b="0"/>
          <a:stretch/>
        </p:blipFill>
        <p:spPr>
          <a:xfrm>
            <a:off x="1095451" y="3810305"/>
            <a:ext cx="286207" cy="22860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600200" y="3448202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Mechanical strain + age-normalized stress (wear &amp; efficiency)</a:t>
            </a:r>
            <a:endParaRPr lang="en-US" sz="1300" dirty="0"/>
          </a:p>
        </p:txBody>
      </p:sp>
      <p:sp>
        <p:nvSpPr>
          <p:cNvPr id="17" name="Text 8"/>
          <p:cNvSpPr txBox="1"/>
          <p:nvPr/>
        </p:nvSpPr>
        <p:spPr>
          <a:xfrm>
            <a:off x="1600200" y="3755441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torque_per_rpm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(corr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−0.59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and </a:t>
            </a:r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vibration_per_load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capture overload / friction / abnormal vibration. </a:t>
            </a:r>
            <a:endParaRPr lang="en-US" sz="1200" dirty="0"/>
          </a:p>
        </p:txBody>
      </p:sp>
      <p:sp>
        <p:nvSpPr>
          <p:cNvPr id="18" name="Text 9"/>
          <p:cNvSpPr txBox="1"/>
          <p:nvPr/>
        </p:nvSpPr>
        <p:spPr>
          <a:xfrm>
            <a:off x="1600200" y="4068166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load_per_age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(corr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+0.40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• </a:t>
            </a:r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vibration_per_age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(corr </a:t>
            </a:r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+0.39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</a:t>
            </a:r>
            <a:endParaRPr lang="en-US" sz="1200" dirty="0"/>
          </a:p>
        </p:txBody>
      </p:sp>
      <p:sp>
        <p:nvSpPr>
          <p:cNvPr id="19" name="Text 10"/>
          <p:cNvSpPr txBox="1"/>
          <p:nvPr/>
        </p:nvSpPr>
        <p:spPr>
          <a:xfrm>
            <a:off x="1600200" y="4380890"/>
            <a:ext cx="9715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Normalizes behavior by usage/age → improves comparability across machines</a:t>
            </a:r>
            <a:endParaRPr lang="en-US" sz="10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-80" r="-80" t="0" b="0"/>
          <a:stretch/>
        </p:blipFill>
        <p:spPr>
          <a:xfrm>
            <a:off x="1095451" y="5419649"/>
            <a:ext cx="286207" cy="2286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600200" y="5143500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stability (trend + instability signals)</a:t>
            </a:r>
            <a:endParaRPr lang="en-US" sz="1300" dirty="0"/>
          </a:p>
        </p:txBody>
      </p:sp>
      <p:sp>
        <p:nvSpPr>
          <p:cNvPr id="22" name="Text 12"/>
          <p:cNvSpPr txBox="1"/>
          <p:nvPr/>
        </p:nvSpPr>
        <p:spPr>
          <a:xfrm>
            <a:off x="1600200" y="5450738"/>
            <a:ext cx="1026414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Built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5-cycle rolling mean/std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lag-1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features per machine to capture gradual degradation + variance spikes. </a:t>
            </a:r>
            <a:endParaRPr lang="en-US" sz="1200" dirty="0"/>
          </a:p>
        </p:txBody>
      </p:sp>
      <p:sp>
        <p:nvSpPr>
          <p:cNvPr id="23" name="Text 13"/>
          <p:cNvSpPr txBox="1"/>
          <p:nvPr/>
        </p:nvSpPr>
        <p:spPr>
          <a:xfrm>
            <a:off x="1600200" y="5789981"/>
            <a:ext cx="9715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Example: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temperature_roll_mean</a:t>
            </a:r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(corr </a:t>
            </a:r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−0.24</a:t>
            </a:r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indicates sustained heating before failure. </a:t>
            </a:r>
            <a:endParaRPr lang="en-US" sz="1100" dirty="0"/>
          </a:p>
        </p:txBody>
      </p:sp>
      <p:sp>
        <p:nvSpPr>
          <p:cNvPr id="24" name="Text 14"/>
          <p:cNvSpPr txBox="1"/>
          <p:nvPr/>
        </p:nvSpPr>
        <p:spPr>
          <a:xfrm>
            <a:off x="1600200" y="6099962"/>
            <a:ext cx="971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smoother trends + early-warning instability → better RUL prediction</a:t>
            </a:r>
            <a:endParaRPr lang="en-US" sz="1000" dirty="0"/>
          </a:p>
        </p:txBody>
      </p:sp>
      <p:sp>
        <p:nvSpPr>
          <p:cNvPr id="25" name="Text 15"/>
          <p:cNvSpPr txBox="1"/>
          <p:nvPr/>
        </p:nvSpPr>
        <p:spPr>
          <a:xfrm>
            <a:off x="761695" y="6553505"/>
            <a:ext cx="113330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engineered features convert noisy sensor readings into interpretable “stress” and “instability” signals that align with real machine degradation.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-2" r="-2" t="0" b="0"/>
          <a:stretch/>
        </p:blipFill>
        <p:spPr>
          <a:xfrm>
            <a:off x="761695" y="1867205"/>
            <a:ext cx="3429000" cy="4095598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-2" r="-2" t="0" b="0"/>
          <a:stretch/>
        </p:blipFill>
        <p:spPr>
          <a:xfrm>
            <a:off x="4381805" y="1867205"/>
            <a:ext cx="3429000" cy="4095598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8001000" y="1867205"/>
            <a:ext cx="3429000" cy="4095598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1" b="-21"/>
          <a:stretch/>
        </p:blipFill>
        <p:spPr>
          <a:xfrm>
            <a:off x="1047902" y="2723998"/>
            <a:ext cx="2857500" cy="724205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1" b="-21"/>
          <a:stretch/>
        </p:blipFill>
        <p:spPr>
          <a:xfrm>
            <a:off x="4667098" y="2723998"/>
            <a:ext cx="2857500" cy="724205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1" b="-21"/>
          <a:stretch/>
        </p:blipFill>
        <p:spPr>
          <a:xfrm>
            <a:off x="8287207" y="2723998"/>
            <a:ext cx="2857500" cy="724205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75" b="-75"/>
          <a:stretch/>
        </p:blipFill>
        <p:spPr>
          <a:xfrm>
            <a:off x="9773107" y="2000707"/>
            <a:ext cx="1505102" cy="286207"/>
          </a:xfrm>
          <a:prstGeom prst="rect">
            <a:avLst/>
          </a:prstGeom>
        </p:spPr>
      </p:pic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24" b="-24"/>
          <a:stretch/>
        </p:blipFill>
        <p:spPr>
          <a:xfrm>
            <a:off x="761695" y="6096305"/>
            <a:ext cx="10668305" cy="609905"/>
          </a:xfrm>
          <a:prstGeom prst="rect">
            <a:avLst/>
          </a:prstGeom>
        </p:spPr>
      </p:pic>
      <p:sp>
        <p:nvSpPr>
          <p:cNvPr id="14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Comparison &amp; Selection</a:t>
            </a:r>
            <a:endParaRPr lang="en-US" sz="2700" dirty="0"/>
          </a:p>
        </p:txBody>
      </p:sp>
      <p:sp>
        <p:nvSpPr>
          <p:cNvPr id="15" name="Text 3"/>
          <p:cNvSpPr txBox="1"/>
          <p:nvPr/>
        </p:nvSpPr>
        <p:spPr>
          <a:xfrm>
            <a:off x="761695" y="1047902"/>
            <a:ext cx="113541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evaluated three models on </a:t>
            </a:r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unseen machines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RMSE (lower is better) and selected the most reliable option for operations. </a:t>
            </a:r>
            <a:endParaRPr lang="en-US" sz="1200" dirty="0"/>
          </a:p>
        </p:txBody>
      </p:sp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rcRect l="-1004" r="-1004" t="0" b="0"/>
          <a:stretch/>
        </p:blipFill>
        <p:spPr>
          <a:xfrm>
            <a:off x="1104595" y="2238451"/>
            <a:ext cx="267005" cy="209398"/>
          </a:xfrm>
          <a:prstGeom prst="rect">
            <a:avLst/>
          </a:prstGeom>
        </p:spPr>
      </p:pic>
      <p:pic>
        <p:nvPicPr>
          <p:cNvPr id="1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600" b="-600"/>
          <a:stretch/>
        </p:blipFill>
        <p:spPr>
          <a:xfrm>
            <a:off x="4767682" y="2238451"/>
            <a:ext cx="181051" cy="209398"/>
          </a:xfrm>
          <a:prstGeom prst="rect">
            <a:avLst/>
          </a:prstGeom>
        </p:spPr>
      </p:pic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600" b="-600"/>
          <a:stretch/>
        </p:blipFill>
        <p:spPr>
          <a:xfrm>
            <a:off x="8386877" y="2238451"/>
            <a:ext cx="181051" cy="209398"/>
          </a:xfrm>
          <a:prstGeom prst="rect">
            <a:avLst/>
          </a:prstGeom>
        </p:spPr>
      </p:pic>
      <p:sp>
        <p:nvSpPr>
          <p:cNvPr id="19" name="Text 4"/>
          <p:cNvSpPr txBox="1"/>
          <p:nvPr/>
        </p:nvSpPr>
        <p:spPr>
          <a:xfrm>
            <a:off x="1485900" y="2095805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Regression</a:t>
            </a:r>
            <a:endParaRPr lang="en-US" sz="1300" dirty="0"/>
          </a:p>
        </p:txBody>
      </p:sp>
      <p:sp>
        <p:nvSpPr>
          <p:cNvPr id="20" name="Text 5"/>
          <p:cNvSpPr txBox="1"/>
          <p:nvPr/>
        </p:nvSpPr>
        <p:spPr>
          <a:xfrm>
            <a:off x="1485900" y="2348179"/>
            <a:ext cx="257586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(linear + stable)</a:t>
            </a:r>
            <a:endParaRPr lang="en-US" sz="900" dirty="0"/>
          </a:p>
        </p:txBody>
      </p:sp>
      <p:sp>
        <p:nvSpPr>
          <p:cNvPr id="21" name="Text 6"/>
          <p:cNvSpPr txBox="1"/>
          <p:nvPr/>
        </p:nvSpPr>
        <p:spPr>
          <a:xfrm>
            <a:off x="5105095" y="2095805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2" name="Text 7"/>
          <p:cNvSpPr txBox="1"/>
          <p:nvPr/>
        </p:nvSpPr>
        <p:spPr>
          <a:xfrm>
            <a:off x="5105095" y="2348179"/>
            <a:ext cx="257586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Non-linear ensemble</a:t>
            </a:r>
            <a:endParaRPr lang="en-US" sz="900" dirty="0"/>
          </a:p>
        </p:txBody>
      </p:sp>
      <p:sp>
        <p:nvSpPr>
          <p:cNvPr id="23" name="Text 8"/>
          <p:cNvSpPr txBox="1"/>
          <p:nvPr/>
        </p:nvSpPr>
        <p:spPr>
          <a:xfrm>
            <a:off x="8725205" y="2095805"/>
            <a:ext cx="2477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300" dirty="0"/>
          </a:p>
        </p:txBody>
      </p:sp>
      <p:sp>
        <p:nvSpPr>
          <p:cNvPr id="24" name="Text 9"/>
          <p:cNvSpPr txBox="1"/>
          <p:nvPr/>
        </p:nvSpPr>
        <p:spPr>
          <a:xfrm>
            <a:off x="8725205" y="2348179"/>
            <a:ext cx="2477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model (selected)</a:t>
            </a:r>
            <a:endParaRPr lang="en-US" sz="900" dirty="0"/>
          </a:p>
        </p:txBody>
      </p:sp>
      <p:sp>
        <p:nvSpPr>
          <p:cNvPr id="25" name="Text 10"/>
          <p:cNvSpPr txBox="1"/>
          <p:nvPr/>
        </p:nvSpPr>
        <p:spPr>
          <a:xfrm>
            <a:off x="1181405" y="2838298"/>
            <a:ext cx="26947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 (Train / Test)</a:t>
            </a:r>
            <a:endParaRPr lang="en-US" sz="900" dirty="0"/>
          </a:p>
        </p:txBody>
      </p:sp>
      <p:sp>
        <p:nvSpPr>
          <p:cNvPr id="26" name="Text 11"/>
          <p:cNvSpPr txBox="1"/>
          <p:nvPr/>
        </p:nvSpPr>
        <p:spPr>
          <a:xfrm>
            <a:off x="1181405" y="3044038"/>
            <a:ext cx="269473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19.03 </a:t>
            </a:r>
            <a:pPr algn="l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18.91 </a:t>
            </a:r>
            <a:endParaRPr lang="en-US" sz="1600" dirty="0"/>
          </a:p>
        </p:txBody>
      </p:sp>
      <p:sp>
        <p:nvSpPr>
          <p:cNvPr id="27" name="Text 12"/>
          <p:cNvSpPr txBox="1"/>
          <p:nvPr/>
        </p:nvSpPr>
        <p:spPr>
          <a:xfrm>
            <a:off x="4800600" y="2838298"/>
            <a:ext cx="26947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 (Train / Test)</a:t>
            </a:r>
            <a:endParaRPr lang="en-US" sz="900" dirty="0"/>
          </a:p>
        </p:txBody>
      </p:sp>
      <p:sp>
        <p:nvSpPr>
          <p:cNvPr id="28" name="Text 13"/>
          <p:cNvSpPr txBox="1"/>
          <p:nvPr/>
        </p:nvSpPr>
        <p:spPr>
          <a:xfrm>
            <a:off x="4800600" y="3044038"/>
            <a:ext cx="269473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18.17 </a:t>
            </a:r>
            <a:pPr algn="l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18.93 </a:t>
            </a:r>
            <a:endParaRPr lang="en-US" sz="1600" dirty="0"/>
          </a:p>
        </p:txBody>
      </p:sp>
      <p:sp>
        <p:nvSpPr>
          <p:cNvPr id="29" name="Text 14"/>
          <p:cNvSpPr txBox="1"/>
          <p:nvPr/>
        </p:nvSpPr>
        <p:spPr>
          <a:xfrm>
            <a:off x="8419795" y="2838298"/>
            <a:ext cx="26947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99F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 (Train / Test)</a:t>
            </a:r>
            <a:endParaRPr lang="en-US" sz="900" dirty="0"/>
          </a:p>
        </p:txBody>
      </p:sp>
      <p:sp>
        <p:nvSpPr>
          <p:cNvPr id="30" name="Text 15"/>
          <p:cNvSpPr txBox="1"/>
          <p:nvPr/>
        </p:nvSpPr>
        <p:spPr>
          <a:xfrm>
            <a:off x="8419795" y="3044038"/>
            <a:ext cx="269473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17.88 </a:t>
            </a:r>
            <a:pPr algn="l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19.10 </a:t>
            </a:r>
            <a:endParaRPr lang="en-US" sz="1600" dirty="0"/>
          </a:p>
        </p:txBody>
      </p:sp>
      <p:sp>
        <p:nvSpPr>
          <p:cNvPr id="31" name="Text 16"/>
          <p:cNvSpPr txBox="1"/>
          <p:nvPr/>
        </p:nvSpPr>
        <p:spPr>
          <a:xfrm>
            <a:off x="1047902" y="3543300"/>
            <a:ext cx="2971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2" name="Text 17"/>
          <p:cNvSpPr txBox="1"/>
          <p:nvPr/>
        </p:nvSpPr>
        <p:spPr>
          <a:xfrm>
            <a:off x="1047902" y="3830422"/>
            <a:ext cx="29343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Strong sanity baseline; stable under machine-based split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Struggles with non-linear degradation (“cliff” near failure)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Useful as a reference point for improvement </a:t>
            </a:r>
            <a:endParaRPr lang="en-US" sz="1000" dirty="0"/>
          </a:p>
        </p:txBody>
      </p:sp>
      <p:sp>
        <p:nvSpPr>
          <p:cNvPr id="33" name="Text 18"/>
          <p:cNvSpPr txBox="1"/>
          <p:nvPr/>
        </p:nvSpPr>
        <p:spPr>
          <a:xfrm>
            <a:off x="4667098" y="3543300"/>
            <a:ext cx="2971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4" name="Text 19"/>
          <p:cNvSpPr txBox="1"/>
          <p:nvPr/>
        </p:nvSpPr>
        <p:spPr>
          <a:xfrm>
            <a:off x="4667098" y="3830422"/>
            <a:ext cx="29343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Captures non-linear sensor interactions better than Ridge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Generalizes well; limited smoothness for continuous RUL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Solid but not the strongest for nuanced failure patterns </a:t>
            </a:r>
            <a:endParaRPr lang="en-US" sz="1000" dirty="0"/>
          </a:p>
        </p:txBody>
      </p:sp>
      <p:sp>
        <p:nvSpPr>
          <p:cNvPr id="35" name="Text 20"/>
          <p:cNvSpPr txBox="1"/>
          <p:nvPr/>
        </p:nvSpPr>
        <p:spPr>
          <a:xfrm>
            <a:off x="8287207" y="3543300"/>
            <a:ext cx="2971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won</a:t>
            </a:r>
            <a:endParaRPr lang="en-US" sz="900" dirty="0"/>
          </a:p>
        </p:txBody>
      </p:sp>
      <p:sp>
        <p:nvSpPr>
          <p:cNvPr id="36" name="Text 21"/>
          <p:cNvSpPr txBox="1"/>
          <p:nvPr/>
        </p:nvSpPr>
        <p:spPr>
          <a:xfrm>
            <a:off x="8287207" y="3830422"/>
            <a:ext cx="29343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Best at learning complex, non-linear degradation patterns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Minimal overfitting (train RMSE close to test RMSE)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Weighted focus on critical region to improve failure detection </a:t>
            </a:r>
            <a:endParaRPr lang="en-US" sz="10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rcRect l="-1358" r="-1358" t="0" b="0"/>
          <a:stretch/>
        </p:blipFill>
        <p:spPr>
          <a:xfrm>
            <a:off x="9911182" y="2081174"/>
            <a:ext cx="142646" cy="123444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10134295" y="2029054"/>
            <a:ext cx="12006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</a:t>
            </a:r>
            <a:endParaRPr lang="en-US" sz="9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104595" y="6344107"/>
            <a:ext cx="190195" cy="190195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1447495" y="6191402"/>
            <a:ext cx="10020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XGBoost selected for best pattern learning + safe generalization on unseen machines</a:t>
            </a:r>
            <a:endParaRPr lang="en-US" sz="1100" dirty="0"/>
          </a:p>
        </p:txBody>
      </p:sp>
      <p:sp>
        <p:nvSpPr>
          <p:cNvPr id="41" name="Text 24"/>
          <p:cNvSpPr txBox="1"/>
          <p:nvPr/>
        </p:nvSpPr>
        <p:spPr>
          <a:xfrm>
            <a:off x="1447495" y="6424574"/>
            <a:ext cx="10020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step: apply safety constraints and translate RUL into risk bands for operational action (CRITICAL/HIGH/MEDIUM/SAFE).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9" b="-9"/>
          <a:stretch/>
        </p:blipFill>
        <p:spPr>
          <a:xfrm>
            <a:off x="761695" y="1867205"/>
            <a:ext cx="3429000" cy="2572207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8700" y="2152498"/>
            <a:ext cx="495605" cy="49560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9" b="-9"/>
          <a:stretch/>
        </p:blipFill>
        <p:spPr>
          <a:xfrm>
            <a:off x="4381805" y="1867205"/>
            <a:ext cx="3429000" cy="2572207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647895" y="2152498"/>
            <a:ext cx="495605" cy="495605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9" b="-9"/>
          <a:stretch/>
        </p:blipFill>
        <p:spPr>
          <a:xfrm>
            <a:off x="8001000" y="1867205"/>
            <a:ext cx="3429000" cy="2572207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268005" y="2152498"/>
            <a:ext cx="495605" cy="495605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rcRect l="-9" r="-9" t="0" b="0"/>
          <a:stretch/>
        </p:blipFill>
        <p:spPr>
          <a:xfrm>
            <a:off x="761695" y="4686300"/>
            <a:ext cx="10668305" cy="2018995"/>
          </a:xfrm>
          <a:prstGeom prst="rect">
            <a:avLst/>
          </a:prstGeom>
        </p:spPr>
      </p:pic>
      <p:sp>
        <p:nvSpPr>
          <p:cNvPr id="13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Results (Safety-Aware)</a:t>
            </a:r>
            <a:endParaRPr lang="en-US" sz="2700" dirty="0"/>
          </a:p>
        </p:txBody>
      </p:sp>
      <p:sp>
        <p:nvSpPr>
          <p:cNvPr id="14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Performance summary on </a:t>
            </a:r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unseen machines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business-first safety layer (clipping + conservative bias). </a:t>
            </a:r>
            <a:endParaRPr lang="en-US" sz="1200" dirty="0"/>
          </a:p>
        </p:txBody>
      </p:sp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171346" y="2295144"/>
            <a:ext cx="209398" cy="209398"/>
          </a:xfrm>
          <a:prstGeom prst="rect">
            <a:avLst/>
          </a:prstGeom>
        </p:spPr>
      </p:pic>
      <p:sp>
        <p:nvSpPr>
          <p:cNvPr id="16" name="Text 4"/>
          <p:cNvSpPr txBox="1"/>
          <p:nvPr/>
        </p:nvSpPr>
        <p:spPr>
          <a:xfrm>
            <a:off x="1600200" y="2133295"/>
            <a:ext cx="2496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RMSE (after safety layer)</a:t>
            </a:r>
            <a:endParaRPr lang="en-US" sz="900" dirty="0"/>
          </a:p>
        </p:txBody>
      </p:sp>
      <p:sp>
        <p:nvSpPr>
          <p:cNvPr id="17" name="Text 5"/>
          <p:cNvSpPr txBox="1"/>
          <p:nvPr/>
        </p:nvSpPr>
        <p:spPr>
          <a:xfrm>
            <a:off x="1028700" y="2723998"/>
            <a:ext cx="30861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75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19.78</a:t>
            </a:r>
            <a:endParaRPr lang="en-US" sz="4000" dirty="0"/>
          </a:p>
        </p:txBody>
      </p:sp>
      <p:sp>
        <p:nvSpPr>
          <p:cNvPr id="18" name="Text 6"/>
          <p:cNvSpPr txBox="1"/>
          <p:nvPr/>
        </p:nvSpPr>
        <p:spPr>
          <a:xfrm>
            <a:off x="1028700" y="3359506"/>
            <a:ext cx="29718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RMSE optimized for 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errors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(large misses are penalized more). </a:t>
            </a:r>
            <a:endParaRPr lang="en-US" sz="1000" dirty="0"/>
          </a:p>
        </p:txBody>
      </p:sp>
      <p:sp>
        <p:nvSpPr>
          <p:cNvPr id="19" name="Text 7"/>
          <p:cNvSpPr txBox="1"/>
          <p:nvPr/>
        </p:nvSpPr>
        <p:spPr>
          <a:xfrm>
            <a:off x="1028700" y="3848710"/>
            <a:ext cx="29718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 predictions stay within a practical error band for maintenance planning.</a:t>
            </a:r>
            <a:endParaRPr lang="en-US" sz="900" dirty="0"/>
          </a:p>
        </p:txBody>
      </p:sp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791456" y="2295144"/>
            <a:ext cx="209398" cy="209398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5219395" y="2133295"/>
            <a:ext cx="2496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Overprediction rate</a:t>
            </a:r>
            <a:endParaRPr lang="en-US" sz="900" dirty="0"/>
          </a:p>
        </p:txBody>
      </p:sp>
      <p:sp>
        <p:nvSpPr>
          <p:cNvPr id="22" name="Text 9"/>
          <p:cNvSpPr txBox="1"/>
          <p:nvPr/>
        </p:nvSpPr>
        <p:spPr>
          <a:xfrm>
            <a:off x="4647895" y="2723998"/>
            <a:ext cx="30861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-75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0.39</a:t>
            </a:r>
            <a:endParaRPr lang="en-US" sz="4000" dirty="0"/>
          </a:p>
        </p:txBody>
      </p:sp>
      <p:sp>
        <p:nvSpPr>
          <p:cNvPr id="23" name="Text 10"/>
          <p:cNvSpPr txBox="1"/>
          <p:nvPr/>
        </p:nvSpPr>
        <p:spPr>
          <a:xfrm>
            <a:off x="4647895" y="3359506"/>
            <a:ext cx="29718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Indicates a 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conservative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tendency (safety-first). </a:t>
            </a:r>
            <a:endParaRPr lang="en-US" sz="1000" dirty="0"/>
          </a:p>
        </p:txBody>
      </p:sp>
      <p:sp>
        <p:nvSpPr>
          <p:cNvPr id="24" name="Text 11"/>
          <p:cNvSpPr txBox="1"/>
          <p:nvPr/>
        </p:nvSpPr>
        <p:spPr>
          <a:xfrm>
            <a:off x="4647895" y="3848710"/>
            <a:ext cx="29718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trade-off: accepts some false alarms to avoid “false safe” failures.</a:t>
            </a:r>
            <a:endParaRPr lang="en-US" sz="900" dirty="0"/>
          </a:p>
        </p:txBody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rcRect l="-1282" r="-1282" t="0" b="0"/>
          <a:stretch/>
        </p:blipFill>
        <p:spPr>
          <a:xfrm>
            <a:off x="8406079" y="2305202"/>
            <a:ext cx="219456" cy="190195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8839505" y="2133295"/>
            <a:ext cx="24569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99F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Generalization check</a:t>
            </a:r>
            <a:endParaRPr lang="en-US" sz="900" dirty="0"/>
          </a:p>
        </p:txBody>
      </p:sp>
      <p:sp>
        <p:nvSpPr>
          <p:cNvPr id="27" name="Text 13"/>
          <p:cNvSpPr txBox="1"/>
          <p:nvPr/>
        </p:nvSpPr>
        <p:spPr>
          <a:xfrm>
            <a:off x="8268005" y="2723998"/>
            <a:ext cx="295076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-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Consistent on</a:t>
            </a:r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b="1" spc="-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unseen machines </a:t>
            </a:r>
            <a:endParaRPr lang="en-US" sz="1900" dirty="0"/>
          </a:p>
        </p:txBody>
      </p:sp>
      <p:sp>
        <p:nvSpPr>
          <p:cNvPr id="28" name="Text 14"/>
          <p:cNvSpPr txBox="1"/>
          <p:nvPr/>
        </p:nvSpPr>
        <p:spPr>
          <a:xfrm>
            <a:off x="8268005" y="3388766"/>
            <a:ext cx="29343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Evaluation used a strict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machine_id</a:t>
            </a:r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split so the model is tested on machines it never saw during training. </a:t>
            </a:r>
            <a:endParaRPr lang="en-US" sz="900" dirty="0"/>
          </a:p>
        </p:txBody>
      </p:sp>
      <p:sp>
        <p:nvSpPr>
          <p:cNvPr id="29" name="Text 15"/>
          <p:cNvSpPr txBox="1"/>
          <p:nvPr/>
        </p:nvSpPr>
        <p:spPr>
          <a:xfrm>
            <a:off x="8268005" y="3984041"/>
            <a:ext cx="29343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matters: closer to real deployment conditions.</a:t>
            </a:r>
            <a:endParaRPr lang="en-US" sz="90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123798" y="5143500"/>
            <a:ext cx="228600" cy="228600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1600200" y="4953305"/>
            <a:ext cx="97539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means for the business</a:t>
            </a:r>
            <a:endParaRPr lang="en-US" sz="1300" dirty="0"/>
          </a:p>
        </p:txBody>
      </p:sp>
      <p:sp>
        <p:nvSpPr>
          <p:cNvPr id="32" name="Text 17"/>
          <p:cNvSpPr txBox="1"/>
          <p:nvPr/>
        </p:nvSpPr>
        <p:spPr>
          <a:xfrm>
            <a:off x="1600200" y="5260543"/>
            <a:ext cx="9715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model is tuned to be 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risk-aware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it avoids dangerous “too-late” maintenance by leaning conservative, while keeping overall prediction error stable on new machines. </a:t>
            </a:r>
            <a:endParaRPr lang="en-US" sz="1000" dirty="0"/>
          </a:p>
        </p:txBody>
      </p:sp>
      <p:sp>
        <p:nvSpPr>
          <p:cNvPr id="33" name="Text 18"/>
          <p:cNvSpPr txBox="1"/>
          <p:nvPr/>
        </p:nvSpPr>
        <p:spPr>
          <a:xfrm>
            <a:off x="1600200" y="5795467"/>
            <a:ext cx="9753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Next: translate RUL into </a:t>
            </a:r>
            <a:pPr algn="l" indent="0" marL="0">
              <a:buNone/>
            </a:pPr>
            <a:r>
              <a:rPr lang="en-US" sz="10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Bands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drive action (CRITICAL / HIGH / MEDIUM / SAFE). 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761695" y="1867205"/>
            <a:ext cx="5219395" cy="34290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" b="-3"/>
          <a:stretch/>
        </p:blipFill>
        <p:spPr>
          <a:xfrm>
            <a:off x="6210605" y="1867205"/>
            <a:ext cx="5219395" cy="34290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-5" r="-5" t="0" b="0"/>
          <a:stretch/>
        </p:blipFill>
        <p:spPr>
          <a:xfrm>
            <a:off x="6495898" y="2628900"/>
            <a:ext cx="4743907" cy="80010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95898" y="3562502"/>
            <a:ext cx="4743907" cy="1733702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rcRect l="-14" r="-14" t="0" b="0"/>
          <a:stretch/>
        </p:blipFill>
        <p:spPr>
          <a:xfrm>
            <a:off x="761695" y="5486400"/>
            <a:ext cx="10668305" cy="1218895"/>
          </a:xfrm>
          <a:prstGeom prst="rect">
            <a:avLst/>
          </a:prstGeom>
        </p:spPr>
      </p:pic>
      <p:sp>
        <p:nvSpPr>
          <p:cNvPr id="11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 &amp; Risk Bands</a:t>
            </a:r>
            <a:endParaRPr lang="en-US" sz="2700" dirty="0"/>
          </a:p>
        </p:txBody>
      </p:sp>
      <p:sp>
        <p:nvSpPr>
          <p:cNvPr id="12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RUL predictions into simple, operational decisions for maintenance planning</a:t>
            </a:r>
            <a:endParaRPr lang="en-US" sz="1200" dirty="0"/>
          </a:p>
        </p:txBody>
      </p:sp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43000" y="2286000"/>
            <a:ext cx="228600" cy="228600"/>
          </a:xfrm>
          <a:prstGeom prst="rect">
            <a:avLst/>
          </a:prstGeom>
        </p:spPr>
      </p:pic>
      <p:sp>
        <p:nvSpPr>
          <p:cNvPr id="14" name="Text 4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Bands (Action Layer)</a:t>
            </a:r>
            <a:endParaRPr lang="en-US" sz="1300" dirty="0"/>
          </a:p>
        </p:txBody>
      </p:sp>
      <p:sp>
        <p:nvSpPr>
          <p:cNvPr id="15" name="Text 5"/>
          <p:cNvSpPr txBox="1"/>
          <p:nvPr/>
        </p:nvSpPr>
        <p:spPr>
          <a:xfrm>
            <a:off x="1047902" y="2572207"/>
            <a:ext cx="48198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convert continuous RUL into 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decision-ready bands</a:t>
            </a:r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guide planning and prioritization. </a:t>
            </a:r>
            <a:endParaRPr lang="en-US" sz="1000" dirty="0"/>
          </a:p>
        </p:txBody>
      </p:sp>
      <p:sp>
        <p:nvSpPr>
          <p:cNvPr id="16" name="Text 6"/>
          <p:cNvSpPr txBox="1"/>
          <p:nvPr/>
        </p:nvSpPr>
        <p:spPr>
          <a:xfrm>
            <a:off x="1047902" y="3131820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CRITICAL </a:t>
            </a:r>
            <a:pPr algn="l" indent="0" marL="0">
              <a:buNone/>
            </a:pPr>
            <a:r>
              <a:rPr lang="en-US" sz="11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(≤ 85 cycles)</a:t>
            </a:r>
            <a:endParaRPr lang="en-US" sz="1100" dirty="0"/>
          </a:p>
        </p:txBody>
      </p:sp>
      <p:sp>
        <p:nvSpPr>
          <p:cNvPr id="17" name="Text 7"/>
          <p:cNvSpPr txBox="1"/>
          <p:nvPr/>
        </p:nvSpPr>
        <p:spPr>
          <a:xfrm>
            <a:off x="1047902" y="3388766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action — stop/repair before catastrophic failure.</a:t>
            </a:r>
            <a:endParaRPr lang="en-US" sz="900" dirty="0"/>
          </a:p>
        </p:txBody>
      </p:sp>
      <p:sp>
        <p:nvSpPr>
          <p:cNvPr id="18" name="Text 8"/>
          <p:cNvSpPr txBox="1"/>
          <p:nvPr/>
        </p:nvSpPr>
        <p:spPr>
          <a:xfrm>
            <a:off x="1047902" y="3675888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</a:t>
            </a:r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(86–150 cycles)</a:t>
            </a:r>
            <a:endParaRPr lang="en-US" sz="1100" dirty="0"/>
          </a:p>
        </p:txBody>
      </p:sp>
      <p:sp>
        <p:nvSpPr>
          <p:cNvPr id="19" name="Text 9"/>
          <p:cNvSpPr txBox="1"/>
          <p:nvPr/>
        </p:nvSpPr>
        <p:spPr>
          <a:xfrm>
            <a:off x="1047902" y="3932834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in the next maintenance window; plan parts.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1047902" y="4219956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MEDIUM </a:t>
            </a:r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(151–280 cycles)</a:t>
            </a:r>
            <a:endParaRPr lang="en-US" sz="1100" dirty="0"/>
          </a:p>
        </p:txBody>
      </p:sp>
      <p:sp>
        <p:nvSpPr>
          <p:cNvPr id="21" name="Text 11"/>
          <p:cNvSpPr txBox="1"/>
          <p:nvPr/>
        </p:nvSpPr>
        <p:spPr>
          <a:xfrm>
            <a:off x="1047902" y="4477817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closely; trend-based review.</a:t>
            </a:r>
            <a:endParaRPr lang="en-US" sz="900" dirty="0"/>
          </a:p>
        </p:txBody>
      </p:sp>
      <p:sp>
        <p:nvSpPr>
          <p:cNvPr id="22" name="Text 12"/>
          <p:cNvSpPr txBox="1"/>
          <p:nvPr/>
        </p:nvSpPr>
        <p:spPr>
          <a:xfrm>
            <a:off x="1047902" y="4764938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SAFE </a:t>
            </a:r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(&gt; 280 cycles)</a:t>
            </a:r>
            <a:endParaRPr lang="en-US" sz="1100" dirty="0"/>
          </a:p>
        </p:txBody>
      </p:sp>
      <p:sp>
        <p:nvSpPr>
          <p:cNvPr id="23" name="Text 13"/>
          <p:cNvSpPr txBox="1"/>
          <p:nvPr/>
        </p:nvSpPr>
        <p:spPr>
          <a:xfrm>
            <a:off x="1047902" y="5021885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 — routine monitoring only.</a:t>
            </a:r>
            <a:endParaRPr lang="en-US" sz="9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 Performance (Evidence)</a:t>
            </a:r>
            <a:endParaRPr lang="en-US" sz="1300" dirty="0"/>
          </a:p>
        </p:txBody>
      </p:sp>
      <p:sp>
        <p:nvSpPr>
          <p:cNvPr id="26" name="Text 15"/>
          <p:cNvSpPr txBox="1"/>
          <p:nvPr/>
        </p:nvSpPr>
        <p:spPr>
          <a:xfrm>
            <a:off x="6705295" y="2781605"/>
            <a:ext cx="4439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ACCURACY</a:t>
            </a:r>
            <a:endParaRPr lang="en-US" sz="900" dirty="0"/>
          </a:p>
        </p:txBody>
      </p:sp>
      <p:sp>
        <p:nvSpPr>
          <p:cNvPr id="27" name="Text 16"/>
          <p:cNvSpPr txBox="1"/>
          <p:nvPr/>
        </p:nvSpPr>
        <p:spPr>
          <a:xfrm>
            <a:off x="6705295" y="2987345"/>
            <a:ext cx="44394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0.83 </a:t>
            </a:r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(risk bands)</a:t>
            </a:r>
            <a:endParaRPr lang="en-US" sz="2100" dirty="0"/>
          </a:p>
        </p:txBody>
      </p:sp>
      <p:sp>
        <p:nvSpPr>
          <p:cNvPr id="28" name="Text 17"/>
          <p:cNvSpPr txBox="1"/>
          <p:nvPr/>
        </p:nvSpPr>
        <p:spPr>
          <a:xfrm>
            <a:off x="6705295" y="3733495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CRITICAL recall: </a:t>
            </a:r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0.71</a:t>
            </a:r>
            <a:endParaRPr lang="en-US" sz="1000" dirty="0"/>
          </a:p>
        </p:txBody>
      </p:sp>
      <p:sp>
        <p:nvSpPr>
          <p:cNvPr id="29" name="Text 18"/>
          <p:cNvSpPr txBox="1"/>
          <p:nvPr/>
        </p:nvSpPr>
        <p:spPr>
          <a:xfrm>
            <a:off x="6705295" y="3961181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Catches most imminent failures (safety-first).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6705295" y="4222699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precision/recall: </a:t>
            </a:r>
            <a:pPr algn="l" indent="0" marL="0">
              <a:buNone/>
            </a:pPr>
            <a:r>
              <a:rPr lang="en-US" sz="10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0.75 / 0.69</a:t>
            </a:r>
            <a:endParaRPr lang="en-US" sz="1000" dirty="0"/>
          </a:p>
        </p:txBody>
      </p:sp>
      <p:sp>
        <p:nvSpPr>
          <p:cNvPr id="31" name="Text 20"/>
          <p:cNvSpPr txBox="1"/>
          <p:nvPr/>
        </p:nvSpPr>
        <p:spPr>
          <a:xfrm>
            <a:off x="6705295" y="4450385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identification of “needs attention soon”.</a:t>
            </a:r>
            <a:endParaRPr lang="en-US" sz="900" dirty="0"/>
          </a:p>
        </p:txBody>
      </p:sp>
      <p:sp>
        <p:nvSpPr>
          <p:cNvPr id="32" name="Text 21"/>
          <p:cNvSpPr txBox="1"/>
          <p:nvPr/>
        </p:nvSpPr>
        <p:spPr>
          <a:xfrm>
            <a:off x="6705295" y="4712818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MEDIUM precision/recall: </a:t>
            </a:r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0.85 / 0.96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6705295" y="4939589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performance on normal operating conditions.</a:t>
            </a:r>
            <a:endParaRPr lang="en-US" sz="9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-133" r="-133" t="0" b="0"/>
          <a:stretch/>
        </p:blipFill>
        <p:spPr>
          <a:xfrm>
            <a:off x="1152144" y="5924398"/>
            <a:ext cx="171907" cy="22860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600200" y="5658307"/>
            <a:ext cx="97539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 on the shop floor</a:t>
            </a:r>
            <a:endParaRPr lang="en-US" sz="1300" dirty="0"/>
          </a:p>
        </p:txBody>
      </p:sp>
      <p:sp>
        <p:nvSpPr>
          <p:cNvPr id="36" name="Text 24"/>
          <p:cNvSpPr txBox="1"/>
          <p:nvPr/>
        </p:nvSpPr>
        <p:spPr>
          <a:xfrm>
            <a:off x="1600200" y="5946343"/>
            <a:ext cx="97539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triage across machines • fewer surprise breakdowns • better parts planning • safer operations</a:t>
            </a:r>
            <a:endParaRPr lang="en-US" sz="1000" dirty="0"/>
          </a:p>
        </p:txBody>
      </p:sp>
      <p:sp>
        <p:nvSpPr>
          <p:cNvPr id="37" name="Text 25"/>
          <p:cNvSpPr txBox="1"/>
          <p:nvPr/>
        </p:nvSpPr>
        <p:spPr>
          <a:xfrm>
            <a:off x="1600200" y="6228893"/>
            <a:ext cx="9753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maintenance aligned to business priorities (urgent machines first, healthy machines left running)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761695" y="1676095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761695" y="1952244"/>
            <a:ext cx="10668305" cy="1619402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-13" r="-13" t="0" b="0"/>
          <a:stretch/>
        </p:blipFill>
        <p:spPr>
          <a:xfrm>
            <a:off x="761695" y="3733495"/>
            <a:ext cx="10668305" cy="133319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-5" r="-5" t="0" b="0"/>
          <a:stretch/>
        </p:blipFill>
        <p:spPr>
          <a:xfrm>
            <a:off x="761695" y="5219395"/>
            <a:ext cx="10668305" cy="1190549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Readiness &amp; Future Scope</a:t>
            </a:r>
            <a:endParaRPr lang="en-US" sz="2700" dirty="0"/>
          </a:p>
        </p:txBody>
      </p:sp>
      <p:sp>
        <p:nvSpPr>
          <p:cNvPr id="10" name="Text 3"/>
          <p:cNvSpPr txBox="1"/>
          <p:nvPr/>
        </p:nvSpPr>
        <p:spPr>
          <a:xfrm>
            <a:off x="761695" y="1067105"/>
            <a:ext cx="10782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solution can be operationalized today, plus key constraints and next enhancements</a:t>
            </a:r>
            <a:endParaRPr lang="en-US" sz="12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14654" y="2447849"/>
            <a:ext cx="247802" cy="2478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600200" y="2171700"/>
            <a:ext cx="94494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Readiness: practical steps to run on live factory data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1600200" y="2498141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contract &amp; reliability</a:t>
            </a:r>
            <a:endParaRPr lang="en-US" sz="1000" dirty="0"/>
          </a:p>
        </p:txBody>
      </p:sp>
      <p:sp>
        <p:nvSpPr>
          <p:cNvPr id="14" name="Text 6"/>
          <p:cNvSpPr txBox="1"/>
          <p:nvPr/>
        </p:nvSpPr>
        <p:spPr>
          <a:xfrm>
            <a:off x="1600200" y="2756002"/>
            <a:ext cx="3010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Input schema validation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Missing-value handling (robust imputation) </a:t>
            </a:r>
            <a:endParaRPr lang="en-US" sz="1100" dirty="0"/>
          </a:p>
        </p:txBody>
      </p:sp>
      <p:sp>
        <p:nvSpPr>
          <p:cNvPr id="15" name="Text 7"/>
          <p:cNvSpPr txBox="1"/>
          <p:nvPr/>
        </p:nvSpPr>
        <p:spPr>
          <a:xfrm>
            <a:off x="4800600" y="2498141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scoring</a:t>
            </a:r>
            <a:endParaRPr lang="en-US" sz="1000" dirty="0"/>
          </a:p>
        </p:txBody>
      </p:sp>
      <p:sp>
        <p:nvSpPr>
          <p:cNvPr id="16" name="Text 8"/>
          <p:cNvSpPr txBox="1"/>
          <p:nvPr/>
        </p:nvSpPr>
        <p:spPr>
          <a:xfrm>
            <a:off x="4800600" y="2756002"/>
            <a:ext cx="3010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Same feature logic for new data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Stable outputs for unseen machines </a:t>
            </a:r>
            <a:endParaRPr lang="en-US" sz="1100" dirty="0"/>
          </a:p>
        </p:txBody>
      </p:sp>
      <p:sp>
        <p:nvSpPr>
          <p:cNvPr id="17" name="Text 9"/>
          <p:cNvSpPr txBox="1"/>
          <p:nvPr/>
        </p:nvSpPr>
        <p:spPr>
          <a:xfrm>
            <a:off x="8001000" y="2498141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8001000" y="2756002"/>
            <a:ext cx="3010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Track RMSE over time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Recall for </a:t>
            </a:r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band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Drift checks (sensor/operating changes) 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23798" y="4248302"/>
            <a:ext cx="228600" cy="2286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600200" y="3943807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(known trade-offs)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1600200" y="4251046"/>
            <a:ext cx="96780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Conservative bias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~0.39 overprediction rate (safer alerts, more false positives)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machine classes</a:t>
            </a:r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model needs retraining/transfer learning if equipment physics differ 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23798" y="5695798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600200" y="5391302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 (next upgrades)</a:t>
            </a:r>
            <a:endParaRPr lang="en-US" sz="1300" dirty="0"/>
          </a:p>
        </p:txBody>
      </p:sp>
      <p:sp>
        <p:nvSpPr>
          <p:cNvPr id="24" name="Text 14"/>
          <p:cNvSpPr txBox="1"/>
          <p:nvPr/>
        </p:nvSpPr>
        <p:spPr>
          <a:xfrm>
            <a:off x="1600200" y="5698541"/>
            <a:ext cx="96780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Explore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 / sequence models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learn temporal degradation without manual rolling features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Deploy to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/ IoT gateways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low-latency, near real-time scoring on the factory floor 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761695" y="6495898"/>
            <a:ext cx="1096182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goal: a reliable “maintenance decision layer” that prioritizes catching imminent failures while staying deployable in real conditions.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5805" y="1429207"/>
            <a:ext cx="8001000" cy="40005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10098" y="1695298"/>
            <a:ext cx="571500" cy="5715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04" b="-404"/>
          <a:stretch/>
        </p:blipFill>
        <p:spPr>
          <a:xfrm>
            <a:off x="4000500" y="4134002"/>
            <a:ext cx="4190695" cy="19202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82005" y="1867205"/>
            <a:ext cx="228600" cy="2286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2286000" y="2343607"/>
            <a:ext cx="7620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-9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Text 3"/>
          <p:cNvSpPr txBox="1"/>
          <p:nvPr/>
        </p:nvSpPr>
        <p:spPr>
          <a:xfrm>
            <a:off x="2324405" y="3143707"/>
            <a:ext cx="7543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" kern="0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11" name="Text 4"/>
          <p:cNvSpPr txBox="1"/>
          <p:nvPr/>
        </p:nvSpPr>
        <p:spPr>
          <a:xfrm>
            <a:off x="2324405" y="3600907"/>
            <a:ext cx="7543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G7 — Predictive Maintenance (RUL)</a:t>
            </a:r>
            <a:endParaRPr lang="en-US" sz="1300" dirty="0"/>
          </a:p>
        </p:txBody>
      </p:sp>
      <p:sp>
        <p:nvSpPr>
          <p:cNvPr id="12" name="Text 5"/>
          <p:cNvSpPr txBox="1"/>
          <p:nvPr/>
        </p:nvSpPr>
        <p:spPr>
          <a:xfrm>
            <a:off x="2318004" y="4238244"/>
            <a:ext cx="755568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Mehak Aggarwal • Avi Kishore Soni • Harshal Grover • Dewang Bakshy • Devesh • Gaurav Kumar</a:t>
            </a:r>
            <a:endParaRPr lang="en-US" sz="1000" dirty="0"/>
          </a:p>
        </p:txBody>
      </p:sp>
      <p:sp>
        <p:nvSpPr>
          <p:cNvPr id="13" name="Text 6"/>
          <p:cNvSpPr txBox="1"/>
          <p:nvPr/>
        </p:nvSpPr>
        <p:spPr>
          <a:xfrm>
            <a:off x="2324405" y="4573829"/>
            <a:ext cx="7543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PGP in Data Science with Specialization in Gen AI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705002" y="6515100"/>
            <a:ext cx="10782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Presentation • Remaining Useful Life (RUL) Prediction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2026-03-27T10:45:50Z</dcterms:created>
  <dcterms:modified xsi:type="dcterms:W3CDTF">2026-03-27T10:45:50Z</dcterms:modified>
</cp:coreProperties>
</file>